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4250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2521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9108862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1350720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84319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024943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3046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99055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09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794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5926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42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FE0598-F9F8-48F2-46C1-D3E0E8CC14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867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9667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122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6DFF92-E1BF-1174-EC25-38CBE3DDC8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898270-79DC-18AD-D610-5489C4D279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64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968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0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68265B-199B-5C85-CC80-1BC2562617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860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4093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8438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205B35-D9B2-A259-5582-2DCBAACA53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57B7E-2A48-E614-BA13-7E58C4F244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951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371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604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0E4C52-E95F-745B-6446-8BF55335A0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707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99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19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1A1F5A-A115-59A1-6A1E-8246150F39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D99745-2DA8-40C7-6B92-7A264B2C09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8562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3300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29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C9BC16-9FBD-CEBB-BBCC-4CFC6A2045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54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643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165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9F2A9-7991-C73E-1A22-6E53A5FDD6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0313B5-6E49-C5C2-27A2-80E71F5AC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811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358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40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136978-C454-EDC5-8360-4932CC104C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006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0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864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8E2DF6-42C4-19CA-6635-50300D508E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22581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57933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736060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631218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78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848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174203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0649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933762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1331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4019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52885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60597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607667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5439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926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292939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17197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773208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937734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4381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980103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19845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8752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36322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401246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73233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279246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9780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668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7125138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439070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1107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032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178569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620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03363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463945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09928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711632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6045036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1467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167981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478123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1371574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257171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958559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1608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87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712551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294691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293754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2723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3970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1718757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788166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776607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4472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pattFill prst="pct90">
          <a:fgClr>
            <a:schemeClr val="bg1">
              <a:alpha val="30000"/>
            </a:schemeClr>
          </a:fgClr>
          <a:bgClr>
            <a:schemeClr val="tx2">
              <a:lumMod val="50000"/>
              <a:alpha val="30000"/>
            </a:schemeClr>
          </a:bgClr>
        </a:patt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046060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957699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7982042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89914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73471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49279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Проектная работа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41408829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Проектирование и разработка информационной системы обмена книгами между пользователями «BookSwap»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91813871" name=""/>
          <p:cNvSpPr txBox="1"/>
          <p:nvPr/>
        </p:nvSpPr>
        <p:spPr bwMode="auto">
          <a:xfrm rot="0" flipH="0" flipV="0">
            <a:off x="7417284" y="5347607"/>
            <a:ext cx="4220087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Выполнили:</a:t>
            </a:r>
            <a:endParaRPr>
              <a:latin typeface="Adwaita Sans"/>
              <a:cs typeface="Adwaita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Мясоутов Руслан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Раисович</a:t>
            </a:r>
            <a:endParaRPr>
              <a:latin typeface="Adwaita Sans"/>
              <a:cs typeface="Adwaita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Конюхов Матвей Витальевич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2833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3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Цель проекта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9445632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5"/>
            <a:ext cx="10515600" cy="1045481"/>
          </a:xfrm>
        </p:spPr>
        <p:txBody>
          <a:bodyPr/>
          <a:lstStyle/>
          <a:p>
            <a:pPr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Разработка веб-платформы, </a:t>
            </a: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обеспечивающей </a:t>
            </a: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поиск, обмен и учёт книг между пользователями на основе геолокации и системы рейтингов.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982592558" name="Title 1"/>
          <p:cNvSpPr>
            <a:spLocks noGrp="1"/>
          </p:cNvSpPr>
          <p:nvPr/>
        </p:nvSpPr>
        <p:spPr bwMode="auto">
          <a:xfrm>
            <a:off x="838198" y="2626632"/>
            <a:ext cx="10515600" cy="1325561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>
              <a:lnSpc>
                <a:spcPct val="90000"/>
              </a:lnSpc>
              <a:spcBef>
                <a:spcPts val="0"/>
              </a:spcBef>
              <a:buNone/>
              <a:defRPr sz="33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3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Задачи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021805056" name="Content Placeholder 2"/>
          <p:cNvSpPr>
            <a:spLocks noGrp="1"/>
          </p:cNvSpPr>
          <p:nvPr/>
        </p:nvSpPr>
        <p:spPr bwMode="auto">
          <a:xfrm flipH="0" flipV="0">
            <a:off x="990598" y="3687535"/>
            <a:ext cx="10515600" cy="25173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2865" indent="-272865">
              <a:buFont typeface="Arial"/>
              <a:buAutoNum type="arabicPeriod"/>
              <a:defRPr/>
            </a:pP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Провести анализ предметной области и существующих аналогов</a:t>
            </a: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Спроектировать архитектуру системы и базу данных</a:t>
            </a: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Разработать модели бизнес-процессов в нотациях IDEF0, DFD, BPMN</a:t>
            </a: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Создать UML-диаграммы структурного и поведенческого типов</a:t>
            </a: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Спроектировать ER-диаграмму и реализовать базу данных PostgreSQL</a:t>
            </a: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Разработать серверную и клиентскую части приложения</a:t>
            </a:r>
            <a:endParaRPr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    Провести тестирование и документирование системы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60124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Предметная область и анализ аналогов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50201298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045767" y="1681162"/>
            <a:ext cx="2578892" cy="41195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Буккроссинг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68125355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1045767" y="2093118"/>
            <a:ext cx="2578892" cy="204827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Международное сообщество, отслеживание перемещения книги</a:t>
            </a:r>
            <a:endParaRPr lang="ru-RU" sz="2100" b="0" i="0" u="none" strike="noStrike" cap="none" spc="0">
              <a:solidFill>
                <a:schemeClr val="tx1"/>
              </a:solidFill>
              <a:latin typeface="Adwaita Sans"/>
              <a:ea typeface="Adwaita Sans"/>
              <a:cs typeface="Adwaita Sans"/>
            </a:endParaRPr>
          </a:p>
        </p:txBody>
      </p:sp>
      <p:sp>
        <p:nvSpPr>
          <p:cNvPr id="1494630100" name="Text Placeholder 2"/>
          <p:cNvSpPr>
            <a:spLocks noGrp="1"/>
          </p:cNvSpPr>
          <p:nvPr/>
        </p:nvSpPr>
        <p:spPr bwMode="auto">
          <a:xfrm flipH="0" flipV="0">
            <a:off x="3624660" y="1681162"/>
            <a:ext cx="2578892" cy="4119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85800" rtl="0">
              <a:lnSpc>
                <a:spcPct val="90000"/>
              </a:lnSpc>
              <a:spcBef>
                <a:spcPts val="749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5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35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Флибуста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81690963" name="Content Placeholder 3"/>
          <p:cNvSpPr>
            <a:spLocks noGrp="1"/>
          </p:cNvSpPr>
          <p:nvPr/>
        </p:nvSpPr>
        <p:spPr bwMode="auto">
          <a:xfrm flipH="0" flipV="0">
            <a:off x="3624660" y="2093117"/>
            <a:ext cx="2578892" cy="204827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Огромный каталог</a:t>
            </a:r>
            <a:endParaRPr>
              <a:latin typeface="Adwaita Sans"/>
              <a:cs typeface="Adwaita Sans"/>
            </a:endParaRPr>
          </a:p>
          <a:p>
            <a:pPr marL="0" indent="0">
              <a:buFont typeface="Arial"/>
              <a:buNone/>
              <a:defRPr/>
            </a:pPr>
            <a:endParaRPr>
              <a:latin typeface="Adwaita Sans"/>
              <a:cs typeface="Adwaita Sans"/>
            </a:endParaRPr>
          </a:p>
          <a:p>
            <a:pPr marL="0" indent="0">
              <a:buFont typeface="Arial"/>
              <a:buNone/>
              <a:defRPr/>
            </a:pPr>
            <a:endParaRPr>
              <a:latin typeface="Adwaita Sans"/>
              <a:cs typeface="Adwaita Sans"/>
            </a:endParaRPr>
          </a:p>
        </p:txBody>
      </p:sp>
      <p:sp>
        <p:nvSpPr>
          <p:cNvPr id="1105532184" name="Content Placeholder 3"/>
          <p:cNvSpPr>
            <a:spLocks noGrp="1"/>
          </p:cNvSpPr>
          <p:nvPr/>
        </p:nvSpPr>
        <p:spPr bwMode="auto">
          <a:xfrm flipH="0" flipV="0">
            <a:off x="1045767" y="4141388"/>
            <a:ext cx="2578892" cy="204826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Нет прямого обмена, книгу нужно «отпустить»</a:t>
            </a:r>
            <a:endParaRPr lang="ru-RU"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</p:txBody>
      </p:sp>
      <p:sp>
        <p:nvSpPr>
          <p:cNvPr id="916503829" name="Content Placeholder 3"/>
          <p:cNvSpPr>
            <a:spLocks noGrp="1"/>
          </p:cNvSpPr>
          <p:nvPr/>
        </p:nvSpPr>
        <p:spPr bwMode="auto">
          <a:xfrm flipH="0" flipV="0">
            <a:off x="3624660" y="4141388"/>
            <a:ext cx="2578891" cy="204827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Только электронные книги. Правовые вопросы</a:t>
            </a:r>
            <a:endParaRPr lang="ru-RU">
              <a:latin typeface="Adwaita Sans"/>
              <a:cs typeface="Adwaita Sans"/>
            </a:endParaRPr>
          </a:p>
        </p:txBody>
      </p:sp>
      <p:sp>
        <p:nvSpPr>
          <p:cNvPr id="1682317623" name="Content Placeholder 3"/>
          <p:cNvSpPr>
            <a:spLocks noGrp="1"/>
          </p:cNvSpPr>
          <p:nvPr/>
        </p:nvSpPr>
        <p:spPr bwMode="auto">
          <a:xfrm rot="16199969" flipH="0" flipV="0">
            <a:off x="-184346" y="2911275"/>
            <a:ext cx="2048271" cy="41195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19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dwaita Sans"/>
                <a:ea typeface="Adwaita Sans"/>
                <a:cs typeface="Adwaita Sans"/>
              </a:rPr>
              <a:t>Преимущества</a:t>
            </a:r>
            <a:endParaRPr>
              <a:solidFill>
                <a:schemeClr val="accent6">
                  <a:lumMod val="50000"/>
                </a:schemeClr>
              </a:solidFill>
              <a:latin typeface="Adwaita Sans"/>
              <a:cs typeface="Adwaita Sans"/>
            </a:endParaRPr>
          </a:p>
        </p:txBody>
      </p:sp>
      <p:sp>
        <p:nvSpPr>
          <p:cNvPr id="442283641" name="Content Placeholder 3"/>
          <p:cNvSpPr>
            <a:spLocks noGrp="1"/>
          </p:cNvSpPr>
          <p:nvPr/>
        </p:nvSpPr>
        <p:spPr bwMode="auto">
          <a:xfrm rot="16199969" flipH="0" flipV="0">
            <a:off x="-184346" y="4959545"/>
            <a:ext cx="2048270" cy="4119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1900" b="0" i="0" u="none" strike="noStrike" cap="none" spc="0">
                <a:solidFill>
                  <a:schemeClr val="accent2">
                    <a:lumMod val="50000"/>
                  </a:schemeClr>
                </a:solidFill>
                <a:latin typeface="Adwaita Sans"/>
                <a:ea typeface="Adwaita Sans"/>
                <a:cs typeface="Adwaita Sans"/>
              </a:rPr>
              <a:t>Недостатки</a:t>
            </a:r>
            <a:endParaRPr>
              <a:solidFill>
                <a:schemeClr val="accent2">
                  <a:lumMod val="50000"/>
                </a:schemeClr>
              </a:solidFill>
              <a:latin typeface="Adwaita Sans"/>
              <a:cs typeface="Adwaita Sans"/>
            </a:endParaRPr>
          </a:p>
        </p:txBody>
      </p:sp>
      <p:sp>
        <p:nvSpPr>
          <p:cNvPr id="2138220717" name="Text Placeholder 2"/>
          <p:cNvSpPr>
            <a:spLocks noGrp="1"/>
          </p:cNvSpPr>
          <p:nvPr/>
        </p:nvSpPr>
        <p:spPr bwMode="auto">
          <a:xfrm flipH="0" flipV="0">
            <a:off x="6203553" y="1681162"/>
            <a:ext cx="2578892" cy="4119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85800" rtl="0">
              <a:lnSpc>
                <a:spcPct val="90000"/>
              </a:lnSpc>
              <a:spcBef>
                <a:spcPts val="749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5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35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Авито / Юла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340358487" name="Content Placeholder 3"/>
          <p:cNvSpPr>
            <a:spLocks noGrp="1"/>
          </p:cNvSpPr>
          <p:nvPr/>
        </p:nvSpPr>
        <p:spPr bwMode="auto">
          <a:xfrm flipH="0" flipV="0">
            <a:off x="6203553" y="2093118"/>
            <a:ext cx="2578892" cy="204826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Широкая аудитория</a:t>
            </a:r>
            <a:endParaRPr lang="ru-RU" sz="2100" b="0" i="0" u="none" strike="noStrike" cap="none" spc="0">
              <a:solidFill>
                <a:schemeClr val="tx1"/>
              </a:solidFill>
              <a:latin typeface="Adwaita Sans"/>
              <a:ea typeface="Adwaita Sans"/>
              <a:cs typeface="Adwaita Sans"/>
            </a:endParaRPr>
          </a:p>
        </p:txBody>
      </p:sp>
      <p:sp>
        <p:nvSpPr>
          <p:cNvPr id="172164549" name="Content Placeholder 3"/>
          <p:cNvSpPr>
            <a:spLocks noGrp="1"/>
          </p:cNvSpPr>
          <p:nvPr/>
        </p:nvSpPr>
        <p:spPr bwMode="auto">
          <a:xfrm flipH="0" flipV="0">
            <a:off x="8782446" y="2093117"/>
            <a:ext cx="2578891" cy="204827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Просто</a:t>
            </a: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, бесплатно</a:t>
            </a:r>
            <a:endParaRPr lang="ru-RU">
              <a:latin typeface="Adwaita Sans"/>
              <a:cs typeface="Adwaita Sans"/>
            </a:endParaRPr>
          </a:p>
        </p:txBody>
      </p:sp>
      <p:sp>
        <p:nvSpPr>
          <p:cNvPr id="1046240188" name="Content Placeholder 3"/>
          <p:cNvSpPr>
            <a:spLocks noGrp="1"/>
          </p:cNvSpPr>
          <p:nvPr/>
        </p:nvSpPr>
        <p:spPr bwMode="auto">
          <a:xfrm flipH="0" flipV="0">
            <a:off x="6203553" y="4141389"/>
            <a:ext cx="2578891" cy="204826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Нет специализации, много спама, платные услуги</a:t>
            </a:r>
            <a:endParaRPr lang="ru-RU" sz="21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</p:txBody>
      </p:sp>
      <p:sp>
        <p:nvSpPr>
          <p:cNvPr id="646963121" name="Content Placeholder 3"/>
          <p:cNvSpPr>
            <a:spLocks noGrp="1"/>
          </p:cNvSpPr>
          <p:nvPr/>
        </p:nvSpPr>
        <p:spPr bwMode="auto">
          <a:xfrm flipH="0" flipV="0">
            <a:off x="8782446" y="4141389"/>
            <a:ext cx="2578891" cy="204827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Нет структуры, сложно искать, нет рейтингов</a:t>
            </a:r>
            <a:endParaRPr lang="ru-RU">
              <a:latin typeface="Adwaita Sans"/>
              <a:cs typeface="Adwaita Sans"/>
            </a:endParaRPr>
          </a:p>
        </p:txBody>
      </p:sp>
      <p:sp>
        <p:nvSpPr>
          <p:cNvPr id="461376014" name="Text Placeholder 2"/>
          <p:cNvSpPr>
            <a:spLocks noGrp="1"/>
          </p:cNvSpPr>
          <p:nvPr/>
        </p:nvSpPr>
        <p:spPr bwMode="auto">
          <a:xfrm flipH="0" flipV="0">
            <a:off x="8782446" y="1681162"/>
            <a:ext cx="2578891" cy="4119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85800" rtl="0">
              <a:lnSpc>
                <a:spcPct val="90000"/>
              </a:lnSpc>
              <a:spcBef>
                <a:spcPts val="749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5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35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>
              <a:lnSpc>
                <a:spcPct val="90000"/>
              </a:lnSpc>
              <a:spcBef>
                <a:spcPts val="374"/>
              </a:spcBef>
              <a:buFont typeface="Arial"/>
              <a:buNone/>
              <a:defRPr sz="1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Мессенджеры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476970" name="Title 1"/>
          <p:cNvSpPr>
            <a:spLocks noGrp="1"/>
          </p:cNvSpPr>
          <p:nvPr>
            <p:ph type="title"/>
          </p:nvPr>
        </p:nvSpPr>
        <p:spPr bwMode="auto">
          <a:xfrm>
            <a:off x="838198" y="34395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Архитектура системы и база данных</a:t>
            </a:r>
            <a:r>
              <a:rPr lang="ru-RU">
                <a:latin typeface="Adwaita Sans"/>
                <a:ea typeface="Adwaita Sans"/>
                <a:cs typeface="Adwaita Sans"/>
              </a:rPr>
              <a:t>, 1/3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3173649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3020" y="992187"/>
            <a:ext cx="5905499" cy="5448299"/>
          </a:xfrm>
          <a:prstGeom prst="rect">
            <a:avLst/>
          </a:prstGeom>
        </p:spPr>
      </p:pic>
      <p:pic>
        <p:nvPicPr>
          <p:cNvPr id="103144707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48437" y="992187"/>
            <a:ext cx="5038724" cy="5076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382567" name="Title 1"/>
          <p:cNvSpPr>
            <a:spLocks noGrp="1"/>
          </p:cNvSpPr>
          <p:nvPr>
            <p:ph type="title"/>
          </p:nvPr>
        </p:nvSpPr>
        <p:spPr bwMode="auto">
          <a:xfrm>
            <a:off x="838198" y="34395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База данных и сущности, 2/3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19302643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82083" y="1005416"/>
            <a:ext cx="4390823" cy="2711979"/>
          </a:xfrm>
          <a:prstGeom prst="rect">
            <a:avLst/>
          </a:prstGeom>
        </p:spPr>
      </p:pic>
      <p:pic>
        <p:nvPicPr>
          <p:cNvPr id="17372367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72603" y="1005416"/>
            <a:ext cx="6351354" cy="3662112"/>
          </a:xfrm>
          <a:prstGeom prst="rect">
            <a:avLst/>
          </a:prstGeom>
        </p:spPr>
      </p:pic>
      <p:pic>
        <p:nvPicPr>
          <p:cNvPr id="210466036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82083" y="3865562"/>
            <a:ext cx="4390823" cy="2679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75683" name="Title 1"/>
          <p:cNvSpPr>
            <a:spLocks noGrp="1"/>
          </p:cNvSpPr>
          <p:nvPr>
            <p:ph type="title"/>
          </p:nvPr>
        </p:nvSpPr>
        <p:spPr bwMode="auto">
          <a:xfrm>
            <a:off x="838198" y="34395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База данных и сущности,</a:t>
            </a:r>
            <a:r>
              <a:rPr lang="ru-RU">
                <a:latin typeface="Adwaita Sans"/>
                <a:ea typeface="Adwaita Sans"/>
                <a:cs typeface="Adwaita Sans"/>
              </a:rPr>
              <a:t> 3/3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10321169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1458" y="1017665"/>
            <a:ext cx="3996562" cy="2718908"/>
          </a:xfrm>
          <a:prstGeom prst="rect">
            <a:avLst/>
          </a:prstGeom>
        </p:spPr>
      </p:pic>
      <p:pic>
        <p:nvPicPr>
          <p:cNvPr id="8697001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988749" y="1017665"/>
            <a:ext cx="6244166" cy="3001672"/>
          </a:xfrm>
          <a:prstGeom prst="rect">
            <a:avLst/>
          </a:prstGeom>
        </p:spPr>
      </p:pic>
      <p:pic>
        <p:nvPicPr>
          <p:cNvPr id="104951395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61458" y="3828198"/>
            <a:ext cx="3996562" cy="28527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339325" name="Title 1"/>
          <p:cNvSpPr>
            <a:spLocks noGrp="1"/>
          </p:cNvSpPr>
          <p:nvPr>
            <p:ph type="title"/>
          </p:nvPr>
        </p:nvSpPr>
        <p:spPr bwMode="auto">
          <a:xfrm>
            <a:off x="745594" y="113770"/>
            <a:ext cx="10515600" cy="1325561"/>
          </a:xfrm>
        </p:spPr>
        <p:txBody>
          <a:bodyPr/>
          <a:lstStyle/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Связи между сущностями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7078758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00348" y="1269999"/>
            <a:ext cx="6591299" cy="5095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188366" name="Title 1"/>
          <p:cNvSpPr>
            <a:spLocks noGrp="1"/>
          </p:cNvSpPr>
          <p:nvPr>
            <p:ph type="title"/>
          </p:nvPr>
        </p:nvSpPr>
        <p:spPr bwMode="auto">
          <a:xfrm>
            <a:off x="745594" y="113770"/>
            <a:ext cx="10515600" cy="1325561"/>
          </a:xfrm>
        </p:spPr>
        <p:txBody>
          <a:bodyPr/>
          <a:lstStyle/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Диаграммы: Ментальная карта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6799262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65040" y="1098020"/>
            <a:ext cx="9876706" cy="5423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569683" name="Title 1"/>
          <p:cNvSpPr>
            <a:spLocks noGrp="1"/>
          </p:cNvSpPr>
          <p:nvPr>
            <p:ph type="title"/>
          </p:nvPr>
        </p:nvSpPr>
        <p:spPr bwMode="auto">
          <a:xfrm>
            <a:off x="745594" y="2255573"/>
            <a:ext cx="10515600" cy="1325561"/>
          </a:xfrm>
        </p:spPr>
        <p:txBody>
          <a:bodyPr/>
          <a:lstStyle/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Диаграммы: </a:t>
            </a:r>
            <a:r>
              <a:rPr lang="ru-RU" sz="33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Модель в нотации IDEF0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17048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7187" y="198437"/>
            <a:ext cx="5915239" cy="6414633"/>
          </a:xfrm>
          <a:prstGeom prst="rect">
            <a:avLst/>
          </a:prstGeom>
        </p:spPr>
      </p:pic>
      <p:sp>
        <p:nvSpPr>
          <p:cNvPr id="1247156374" name=""/>
          <p:cNvSpPr txBox="1"/>
          <p:nvPr/>
        </p:nvSpPr>
        <p:spPr bwMode="auto">
          <a:xfrm rot="0" flipH="0" flipV="0">
            <a:off x="6573642" y="198437"/>
            <a:ext cx="485314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Контекстная диаграмма A-0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1514052082" name=""/>
          <p:cNvSpPr txBox="1"/>
          <p:nvPr/>
        </p:nvSpPr>
        <p:spPr bwMode="auto">
          <a:xfrm rot="0" flipH="0" flipV="0">
            <a:off x="6437807" y="940324"/>
            <a:ext cx="4743689" cy="3109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IDEF0 — методология функционального моделирования (англ. function modeling) и графическая нотация, предназначенная для формализации и описания бизнес-процессов. Отличительной особенностью IDEF0 является ее акцент на соподчиненность объектов. В IDEF0 рассматриваются логические отношения между работами, а не их временная последовательность (поток работ)</a:t>
            </a:r>
            <a:endParaRPr lang="ru-RU"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07948" name=""/>
          <p:cNvSpPr txBox="1"/>
          <p:nvPr/>
        </p:nvSpPr>
        <p:spPr bwMode="auto">
          <a:xfrm rot="0" flipH="0" flipV="0">
            <a:off x="3838606" y="5343210"/>
            <a:ext cx="485386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Декомпозиция первого уровня A0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13385401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4756" y="1558733"/>
            <a:ext cx="11762487" cy="3522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74530" name="Title 1"/>
          <p:cNvSpPr>
            <a:spLocks noGrp="1"/>
          </p:cNvSpPr>
          <p:nvPr>
            <p:ph type="title"/>
          </p:nvPr>
        </p:nvSpPr>
        <p:spPr bwMode="auto">
          <a:xfrm>
            <a:off x="745594" y="113770"/>
            <a:ext cx="10515600" cy="1325561"/>
          </a:xfrm>
        </p:spPr>
        <p:txBody>
          <a:bodyPr/>
          <a:lstStyle/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Диаграммы:</a:t>
            </a:r>
            <a:r>
              <a:rPr lang="en-US">
                <a:latin typeface="Adwaita Sans"/>
                <a:ea typeface="Adwaita Sans"/>
                <a:cs typeface="Adwaita Sans"/>
              </a:rPr>
              <a:t> </a:t>
            </a:r>
            <a:r>
              <a:rPr lang="ru-RU">
                <a:latin typeface="Adwaita Sans"/>
                <a:ea typeface="Adwaita Sans"/>
                <a:cs typeface="Adwaita Sans"/>
              </a:rPr>
              <a:t>нотация </a:t>
            </a:r>
            <a:r>
              <a:rPr lang="en-US">
                <a:latin typeface="Adwaita Sans"/>
                <a:ea typeface="Adwaita Sans"/>
                <a:cs typeface="Adwaita Sans"/>
              </a:rPr>
              <a:t>DFD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12084354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7457" y="1143000"/>
            <a:ext cx="11191874" cy="3162299"/>
          </a:xfrm>
          <a:prstGeom prst="rect">
            <a:avLst/>
          </a:prstGeom>
        </p:spPr>
      </p:pic>
      <p:sp>
        <p:nvSpPr>
          <p:cNvPr id="1705952913" name=""/>
          <p:cNvSpPr txBox="1"/>
          <p:nvPr/>
        </p:nvSpPr>
        <p:spPr bwMode="auto">
          <a:xfrm rot="0" flipH="0" flipV="0">
            <a:off x="3472062" y="4488544"/>
            <a:ext cx="50626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Adwaita Sans"/>
                <a:ea typeface="Adwaita Sans"/>
                <a:cs typeface="Adwaita Sans"/>
              </a:rPr>
              <a:t>Контекстная диаграмма (уровень 0)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49886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6130" y="857249"/>
            <a:ext cx="10719739" cy="3754456"/>
          </a:xfrm>
          <a:prstGeom prst="rect">
            <a:avLst/>
          </a:prstGeom>
        </p:spPr>
      </p:pic>
      <p:sp>
        <p:nvSpPr>
          <p:cNvPr id="779003893" name=""/>
          <p:cNvSpPr txBox="1"/>
          <p:nvPr/>
        </p:nvSpPr>
        <p:spPr bwMode="auto">
          <a:xfrm rot="0" flipH="0" flipV="0">
            <a:off x="2264149" y="4783726"/>
            <a:ext cx="76637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Adwaita Sans"/>
                <a:ea typeface="Adwaita Sans"/>
                <a:cs typeface="Adwaita Sans"/>
              </a:rPr>
              <a:t>Диаграмма уровня 1 — Декомпозиция системы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610552" name=""/>
          <p:cNvSpPr txBox="1"/>
          <p:nvPr/>
        </p:nvSpPr>
        <p:spPr bwMode="auto">
          <a:xfrm rot="0" flipH="0" flipV="0">
            <a:off x="2264149" y="5601428"/>
            <a:ext cx="766442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Процесс «Обмен книгами» (уровень 2)</a:t>
            </a:r>
            <a:endParaRPr lang="ru-RU">
              <a:latin typeface="Adwaita Sans"/>
              <a:cs typeface="Adwaita Sans"/>
            </a:endParaRPr>
          </a:p>
        </p:txBody>
      </p:sp>
      <p:pic>
        <p:nvPicPr>
          <p:cNvPr id="16413622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72214" y="272142"/>
            <a:ext cx="10138714" cy="5180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19806" name="Title 1"/>
          <p:cNvSpPr>
            <a:spLocks noGrp="1"/>
          </p:cNvSpPr>
          <p:nvPr>
            <p:ph type="title"/>
          </p:nvPr>
        </p:nvSpPr>
        <p:spPr bwMode="auto">
          <a:xfrm>
            <a:off x="745594" y="290663"/>
            <a:ext cx="10515600" cy="1325561"/>
          </a:xfrm>
        </p:spPr>
        <p:txBody>
          <a:bodyPr/>
          <a:lstStyle/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Диаграммы: нотация </a:t>
            </a:r>
            <a:r>
              <a:rPr lang="en-US">
                <a:latin typeface="Adwaita Sans"/>
                <a:ea typeface="Adwaita Sans"/>
                <a:cs typeface="Adwaita Sans"/>
              </a:rPr>
              <a:t>BPMN</a:t>
            </a:r>
            <a:r>
              <a:rPr lang="ru-RU">
                <a:latin typeface="Adwaita Sans"/>
                <a:ea typeface="Adwaita Sans"/>
                <a:cs typeface="Adwaita Sans"/>
              </a:rPr>
              <a:t>, </a:t>
            </a:r>
            <a:r>
              <a:rPr lang="en-US">
                <a:latin typeface="Adwaita Sans"/>
                <a:ea typeface="Adwaita Sans"/>
                <a:cs typeface="Adwaita Sans"/>
              </a:rPr>
              <a:t>UML </a:t>
            </a:r>
            <a:r>
              <a:rPr lang="ru-RU">
                <a:latin typeface="Adwaita Sans"/>
                <a:ea typeface="Adwaita Sans"/>
                <a:cs typeface="Adwaita Sans"/>
              </a:rPr>
              <a:t>и </a:t>
            </a:r>
            <a:r>
              <a:rPr lang="en-US">
                <a:latin typeface="Adwaita Sans"/>
                <a:ea typeface="Adwaita Sans"/>
                <a:cs typeface="Adwaita Sans"/>
              </a:rPr>
              <a:t>ER</a:t>
            </a:r>
            <a:r>
              <a:rPr lang="ru-RU">
                <a:latin typeface="Adwaita Sans"/>
                <a:cs typeface="Adwaita Sans"/>
              </a:rPr>
              <a:t>.</a:t>
            </a:r>
            <a:br>
              <a:rPr lang="ru-RU">
                <a:latin typeface="Adwaita Sans"/>
                <a:cs typeface="Adwaita Sans"/>
              </a:rPr>
            </a:br>
            <a:r>
              <a:rPr lang="ru-RU">
                <a:latin typeface="Adwaita Sans"/>
                <a:cs typeface="Adwaita Sans"/>
              </a:rPr>
              <a:t>Проект на </a:t>
            </a:r>
            <a:r>
              <a:rPr lang="en-US">
                <a:latin typeface="Adwaita Sans"/>
                <a:cs typeface="Adwaita Sans"/>
              </a:rPr>
              <a:t>GitHub</a:t>
            </a:r>
            <a:endParaRPr>
              <a:latin typeface="Adwaita Sans"/>
              <a:cs typeface="Adwaita Sans"/>
            </a:endParaRPr>
          </a:p>
        </p:txBody>
      </p:sp>
      <p:sp>
        <p:nvSpPr>
          <p:cNvPr id="555873871" name=""/>
          <p:cNvSpPr txBox="1"/>
          <p:nvPr/>
        </p:nvSpPr>
        <p:spPr bwMode="auto">
          <a:xfrm rot="0" flipH="0" flipV="0">
            <a:off x="2258177" y="4837066"/>
            <a:ext cx="71626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https://github.com/notvvs/projectirovanie</a:t>
            </a: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0122581" name=""/>
          <p:cNvSpPr txBox="1"/>
          <p:nvPr/>
        </p:nvSpPr>
        <p:spPr bwMode="auto">
          <a:xfrm rot="0" flipH="0" flipV="0">
            <a:off x="1216580" y="1864178"/>
            <a:ext cx="924588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Предлагаем ознакомиться с диаграммами</a:t>
            </a:r>
            <a:r>
              <a:rPr lang="ru-RU">
                <a:latin typeface="Adwaita Sans"/>
                <a:ea typeface="Adwaita Sans"/>
                <a:cs typeface="Adwaita Sans"/>
              </a:rPr>
              <a:t> и проектом в целом</a:t>
            </a:r>
            <a:r>
              <a:rPr lang="en-US">
                <a:latin typeface="Adwaita Sans"/>
                <a:ea typeface="Adwaita Sans"/>
                <a:cs typeface="Adwaita Sans"/>
              </a:rPr>
              <a:t> </a:t>
            </a:r>
            <a:r>
              <a:rPr lang="ru-RU">
                <a:latin typeface="Adwaita Sans"/>
                <a:ea typeface="Adwaita Sans"/>
                <a:cs typeface="Adwaita Sans"/>
              </a:rPr>
              <a:t>на </a:t>
            </a:r>
            <a:r>
              <a:rPr lang="en-US">
                <a:latin typeface="Adwaita Sans"/>
                <a:ea typeface="Adwaita Sans"/>
                <a:cs typeface="Adwaita Sans"/>
              </a:rPr>
              <a:t>GitHub</a:t>
            </a:r>
            <a:r>
              <a:rPr>
                <a:latin typeface="Adwaita Sans"/>
                <a:ea typeface="Adwaita Sans"/>
                <a:cs typeface="Adwaita Sans"/>
              </a:rPr>
              <a:t>:</a:t>
            </a:r>
            <a:endParaRPr>
              <a:latin typeface="Adwaita Sans"/>
              <a:cs typeface="Adwaita Sans"/>
            </a:endParaRPr>
          </a:p>
        </p:txBody>
      </p:sp>
      <p:pic>
        <p:nvPicPr>
          <p:cNvPr id="18135996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21275" y="2490107"/>
            <a:ext cx="2246571" cy="2246571"/>
          </a:xfrm>
          <a:prstGeom prst="rect">
            <a:avLst/>
          </a:prstGeom>
        </p:spPr>
      </p:pic>
      <p:sp>
        <p:nvSpPr>
          <p:cNvPr id="1277023256" name=""/>
          <p:cNvSpPr txBox="1"/>
          <p:nvPr/>
        </p:nvSpPr>
        <p:spPr bwMode="auto">
          <a:xfrm rot="0" flipH="0" flipV="0">
            <a:off x="1216580" y="5676899"/>
            <a:ext cx="92559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>
                <a:latin typeface="Adwaita Sans"/>
                <a:ea typeface="Adwaita Sans"/>
                <a:cs typeface="Adwaita Sans"/>
              </a:rPr>
              <a:t>Благодарим за внимание!</a:t>
            </a:r>
            <a:endParaRPr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2025-12-16T09:19:20Z</dcterms:modified>
</cp:coreProperties>
</file>